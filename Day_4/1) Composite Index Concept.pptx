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5" r:id="rId3"/>
    <p:sldId id="259" r:id="rId4"/>
    <p:sldId id="276" r:id="rId5"/>
    <p:sldId id="274" r:id="rId6"/>
  </p:sldIdLst>
  <p:sldSz cx="13004800" cy="7315200"/>
  <p:notesSz cx="6858000" cy="9144000"/>
  <p:embeddedFontLst>
    <p:embeddedFont>
      <p:font typeface="Montserrat Classic Bold" panose="020B0604020202020204" charset="0"/>
      <p:regular r:id="rId7"/>
    </p:embeddedFont>
    <p:embeddedFont>
      <p:font typeface="Montserrat Light" panose="00000400000000000000" pitchFamily="2" charset="0"/>
      <p:regular r:id="rId8"/>
      <p:italic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4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212" autoAdjust="0"/>
  </p:normalViewPr>
  <p:slideViewPr>
    <p:cSldViewPr>
      <p:cViewPr varScale="1">
        <p:scale>
          <a:sx n="76" d="100"/>
          <a:sy n="76" d="100"/>
        </p:scale>
        <p:origin x="720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A809FC33-BF24-5B77-17F1-A390CB7469A0}"/>
              </a:ext>
            </a:extLst>
          </p:cNvPr>
          <p:cNvSpPr txBox="1"/>
          <p:nvPr userDrawn="1"/>
        </p:nvSpPr>
        <p:spPr>
          <a:xfrm>
            <a:off x="1383192" y="327145"/>
            <a:ext cx="6207139" cy="313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Query Optimization - Indexes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20800" y="1534876"/>
            <a:ext cx="10076924" cy="253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873"/>
              </a:lnSpc>
            </a:pPr>
            <a:r>
              <a:rPr lang="en-US" sz="8585" spc="600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Composite Index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8590" y="6783954"/>
            <a:ext cx="4749800" cy="31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rgbClr val="FFFFFF"/>
                </a:solidFill>
                <a:latin typeface="Montserrat Light"/>
              </a:rPr>
              <a:t>TEXT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73651" y="6853292"/>
            <a:ext cx="3467100" cy="31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rgbClr val="FFFFFF"/>
                </a:solidFill>
                <a:latin typeface="Montserrat Light"/>
              </a:rPr>
              <a:t>TEXT</a:t>
            </a:r>
          </a:p>
        </p:txBody>
      </p:sp>
      <p:sp>
        <p:nvSpPr>
          <p:cNvPr id="7" name="Freeform 7"/>
          <p:cNvSpPr/>
          <p:nvPr/>
        </p:nvSpPr>
        <p:spPr>
          <a:xfrm rot="5400000">
            <a:off x="599924" y="7094635"/>
            <a:ext cx="891843" cy="144384"/>
          </a:xfrm>
          <a:custGeom>
            <a:avLst/>
            <a:gdLst/>
            <a:ahLst/>
            <a:cxnLst/>
            <a:rect l="l" t="t" r="r" b="b"/>
            <a:pathLst>
              <a:path w="668882" h="108288">
                <a:moveTo>
                  <a:pt x="0" y="0"/>
                </a:moveTo>
                <a:lnTo>
                  <a:pt x="668883" y="0"/>
                </a:lnTo>
                <a:lnTo>
                  <a:pt x="668883" y="108289"/>
                </a:lnTo>
                <a:lnTo>
                  <a:pt x="0" y="1082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8842" b="-258842"/>
            </a:stretch>
          </a:blipFill>
        </p:spPr>
        <p:txBody>
          <a:bodyPr/>
          <a:lstStyle/>
          <a:p>
            <a:endParaRPr lang="en-US" sz="2400"/>
          </a:p>
        </p:txBody>
      </p:sp>
      <p:sp>
        <p:nvSpPr>
          <p:cNvPr id="8" name="Freeform 8"/>
          <p:cNvSpPr/>
          <p:nvPr/>
        </p:nvSpPr>
        <p:spPr>
          <a:xfrm rot="5400000">
            <a:off x="7216603" y="7103173"/>
            <a:ext cx="891843" cy="144384"/>
          </a:xfrm>
          <a:custGeom>
            <a:avLst/>
            <a:gdLst/>
            <a:ahLst/>
            <a:cxnLst/>
            <a:rect l="l" t="t" r="r" b="b"/>
            <a:pathLst>
              <a:path w="668882" h="108288">
                <a:moveTo>
                  <a:pt x="0" y="0"/>
                </a:moveTo>
                <a:lnTo>
                  <a:pt x="668882" y="0"/>
                </a:lnTo>
                <a:lnTo>
                  <a:pt x="668882" y="108288"/>
                </a:lnTo>
                <a:lnTo>
                  <a:pt x="0" y="108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8842" b="-258842"/>
            </a:stretch>
          </a:blipFill>
        </p:spPr>
        <p:txBody>
          <a:bodyPr/>
          <a:lstStyle/>
          <a:p>
            <a:endParaRPr lang="en-US" sz="2400"/>
          </a:p>
        </p:txBody>
      </p:sp>
      <p:sp>
        <p:nvSpPr>
          <p:cNvPr id="9" name="TextBox 9"/>
          <p:cNvSpPr txBox="1"/>
          <p:nvPr/>
        </p:nvSpPr>
        <p:spPr>
          <a:xfrm>
            <a:off x="1383192" y="327145"/>
            <a:ext cx="6207139" cy="313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29"/>
              </a:lnSpc>
            </a:pPr>
            <a:r>
              <a:rPr lang="en-US" sz="2000" spc="20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Query Optimization - Indexes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83478" y="711201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1" y="0"/>
                </a:lnTo>
                <a:lnTo>
                  <a:pt x="7613091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>
            <a:extLst>
              <a:ext uri="{FF2B5EF4-FFF2-40B4-BE49-F238E27FC236}">
                <a16:creationId xmlns:a16="http://schemas.microsoft.com/office/drawing/2014/main" id="{60BB5662-34C5-FBA0-56B8-B7A788205336}"/>
              </a:ext>
            </a:extLst>
          </p:cNvPr>
          <p:cNvSpPr/>
          <p:nvPr/>
        </p:nvSpPr>
        <p:spPr>
          <a:xfrm>
            <a:off x="1521099" y="3251086"/>
            <a:ext cx="10112003" cy="116902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1423294" y="922432"/>
            <a:ext cx="10704125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7510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Background for composite index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49704" y="3373759"/>
            <a:ext cx="8048496" cy="1114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Consider Sales table having index on Color column. </a:t>
            </a:r>
          </a:p>
          <a:p>
            <a:pPr lvl="1"/>
            <a:endParaRPr lang="en-US" altLang="en-US" sz="2415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00455" y="3240819"/>
            <a:ext cx="1169112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01</a:t>
            </a:r>
          </a:p>
        </p:txBody>
      </p:sp>
      <p:sp>
        <p:nvSpPr>
          <p:cNvPr id="8" name="Freeform 8"/>
          <p:cNvSpPr/>
          <p:nvPr/>
        </p:nvSpPr>
        <p:spPr>
          <a:xfrm>
            <a:off x="1436626" y="4562472"/>
            <a:ext cx="11118457" cy="1449425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9" name="TextBox 9"/>
          <p:cNvSpPr txBox="1"/>
          <p:nvPr/>
        </p:nvSpPr>
        <p:spPr>
          <a:xfrm>
            <a:off x="2969567" y="4921504"/>
            <a:ext cx="8688980" cy="743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Where Clause is as follows</a:t>
            </a:r>
          </a:p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Where Color = ‘Black’ </a:t>
            </a:r>
            <a:r>
              <a:rPr lang="en-US" altLang="en-US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latin typeface="Montserrat Light"/>
              </a:rPr>
              <a:t>and Size = ‘L’</a:t>
            </a: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09780" y="4737093"/>
            <a:ext cx="1285474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02</a:t>
            </a:r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1C656DCD-E2B1-B98A-33EC-68D62A0F550A}"/>
              </a:ext>
            </a:extLst>
          </p:cNvPr>
          <p:cNvSpPr/>
          <p:nvPr/>
        </p:nvSpPr>
        <p:spPr>
          <a:xfrm>
            <a:off x="1423294" y="5955926"/>
            <a:ext cx="11118457" cy="1449425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DA0CA80C-6F7C-EA96-D291-3BDD6588D3C5}"/>
              </a:ext>
            </a:extLst>
          </p:cNvPr>
          <p:cNvSpPr txBox="1"/>
          <p:nvPr/>
        </p:nvSpPr>
        <p:spPr>
          <a:xfrm>
            <a:off x="2944122" y="6155523"/>
            <a:ext cx="8688980" cy="371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The problem is that index will </a:t>
            </a:r>
            <a:r>
              <a:rPr lang="en-US" altLang="en-US" sz="2415" b="1" spc="96" dirty="0">
                <a:solidFill>
                  <a:srgbClr val="FF0000"/>
                </a:solidFill>
                <a:latin typeface="Montserrat Light"/>
              </a:rPr>
              <a:t>NOT</a:t>
            </a: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 get used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E80C3E9F-5FA6-8F50-4128-32B61AD0B808}"/>
              </a:ext>
            </a:extLst>
          </p:cNvPr>
          <p:cNvSpPr txBox="1"/>
          <p:nvPr/>
        </p:nvSpPr>
        <p:spPr>
          <a:xfrm>
            <a:off x="1796448" y="6130547"/>
            <a:ext cx="1285474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863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8" grpId="0" animBg="1"/>
      <p:bldP spid="9" grpId="0"/>
      <p:bldP spid="10" grpId="0"/>
      <p:bldP spid="14" grpId="0" animBg="1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>
            <a:extLst>
              <a:ext uri="{FF2B5EF4-FFF2-40B4-BE49-F238E27FC236}">
                <a16:creationId xmlns:a16="http://schemas.microsoft.com/office/drawing/2014/main" id="{60BB5662-34C5-FBA0-56B8-B7A788205336}"/>
              </a:ext>
            </a:extLst>
          </p:cNvPr>
          <p:cNvSpPr/>
          <p:nvPr/>
        </p:nvSpPr>
        <p:spPr>
          <a:xfrm>
            <a:off x="1521099" y="3251086"/>
            <a:ext cx="10848701" cy="116902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1423294" y="922432"/>
            <a:ext cx="11131789" cy="2064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5400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When to create </a:t>
            </a:r>
          </a:p>
          <a:p>
            <a:pPr>
              <a:lnSpc>
                <a:spcPts val="8640"/>
              </a:lnSpc>
            </a:pPr>
            <a:r>
              <a:rPr lang="en-US" sz="5400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Composite Index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95406" y="3251086"/>
            <a:ext cx="9398194" cy="1486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Whenever frequently the query has combination of columns with logical AND operator in the search then there is no point in creating index on a single column.</a:t>
            </a:r>
          </a:p>
          <a:p>
            <a:pPr lvl="1"/>
            <a:endParaRPr lang="en-US" altLang="en-US" sz="2415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800455" y="3240819"/>
            <a:ext cx="1169112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01</a:t>
            </a:r>
          </a:p>
        </p:txBody>
      </p:sp>
      <p:sp>
        <p:nvSpPr>
          <p:cNvPr id="8" name="Freeform 8"/>
          <p:cNvSpPr/>
          <p:nvPr/>
        </p:nvSpPr>
        <p:spPr>
          <a:xfrm>
            <a:off x="1423294" y="4471834"/>
            <a:ext cx="11118457" cy="1449425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9" name="TextBox 9"/>
          <p:cNvSpPr txBox="1"/>
          <p:nvPr/>
        </p:nvSpPr>
        <p:spPr>
          <a:xfrm>
            <a:off x="2990060" y="4737093"/>
            <a:ext cx="8688980" cy="1114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We should create a Bitmap Index, but </a:t>
            </a:r>
            <a:r>
              <a:rPr lang="en-US" altLang="en-US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latin typeface="Montserrat Light"/>
              </a:rPr>
              <a:t>composite</a:t>
            </a: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 (means of 2 or more columns) which will save the rowids of combination of values.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09780" y="4737093"/>
            <a:ext cx="1285474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02</a:t>
            </a:r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F12AED57-5BF7-552E-5972-BA85CC386222}"/>
              </a:ext>
            </a:extLst>
          </p:cNvPr>
          <p:cNvSpPr/>
          <p:nvPr/>
        </p:nvSpPr>
        <p:spPr>
          <a:xfrm>
            <a:off x="1436626" y="6036425"/>
            <a:ext cx="11118457" cy="1449425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5410661B-E832-D2D7-6554-7BD718B9CEFA}"/>
              </a:ext>
            </a:extLst>
          </p:cNvPr>
          <p:cNvSpPr txBox="1"/>
          <p:nvPr/>
        </p:nvSpPr>
        <p:spPr>
          <a:xfrm>
            <a:off x="2956235" y="6264201"/>
            <a:ext cx="8688980" cy="743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altLang="en-US" sz="2415" spc="96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In Oracle, a </a:t>
            </a: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composite index can be created of maximum</a:t>
            </a:r>
            <a:r>
              <a:rPr lang="en-US" altLang="en-US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 </a:t>
            </a:r>
            <a:r>
              <a:rPr lang="en-US" altLang="en-US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latin typeface="Montserrat Light"/>
              </a:rPr>
              <a:t>32</a:t>
            </a:r>
            <a:r>
              <a:rPr lang="en-US" altLang="en-US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 </a:t>
            </a: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columns.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5856F42C-4BB5-9925-B00D-EB002594C361}"/>
              </a:ext>
            </a:extLst>
          </p:cNvPr>
          <p:cNvSpPr txBox="1"/>
          <p:nvPr/>
        </p:nvSpPr>
        <p:spPr>
          <a:xfrm>
            <a:off x="1796448" y="6079790"/>
            <a:ext cx="1285474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80"/>
              </a:lnSpc>
            </a:pPr>
            <a:r>
              <a:rPr lang="en-US" sz="5635" spc="393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03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8" grpId="0" animBg="1"/>
      <p:bldP spid="9" grpId="0"/>
      <p:bldP spid="10" grpId="0"/>
      <p:bldP spid="5" grpId="0" animBg="1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>
            <a:extLst>
              <a:ext uri="{FF2B5EF4-FFF2-40B4-BE49-F238E27FC236}">
                <a16:creationId xmlns:a16="http://schemas.microsoft.com/office/drawing/2014/main" id="{60BB5662-34C5-FBA0-56B8-B7A788205336}"/>
              </a:ext>
            </a:extLst>
          </p:cNvPr>
          <p:cNvSpPr/>
          <p:nvPr/>
        </p:nvSpPr>
        <p:spPr>
          <a:xfrm>
            <a:off x="1320800" y="2355497"/>
            <a:ext cx="10848701" cy="116902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endParaRPr lang="en-US" sz="2400" dirty="0"/>
          </a:p>
        </p:txBody>
      </p:sp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Box 6"/>
          <p:cNvSpPr txBox="1"/>
          <p:nvPr/>
        </p:nvSpPr>
        <p:spPr>
          <a:xfrm>
            <a:off x="1137472" y="2622480"/>
            <a:ext cx="10439401" cy="1486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Both BTree as well as Bitmap Indexes can be of Composite type.</a:t>
            </a:r>
          </a:p>
          <a:p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 </a:t>
            </a:r>
          </a:p>
          <a:p>
            <a:pPr lvl="1"/>
            <a:endParaRPr lang="en-US" altLang="en-US" sz="2415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1718B1F2-798B-305F-EECA-67A0823FE9F5}"/>
              </a:ext>
            </a:extLst>
          </p:cNvPr>
          <p:cNvSpPr/>
          <p:nvPr/>
        </p:nvSpPr>
        <p:spPr>
          <a:xfrm>
            <a:off x="1290934" y="3812548"/>
            <a:ext cx="10848701" cy="116902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For </a:t>
            </a:r>
            <a:r>
              <a:rPr lang="en-US" altLang="en-US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High Cardinality </a:t>
            </a: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of </a:t>
            </a:r>
            <a:r>
              <a:rPr lang="en-US" altLang="en-US" sz="2415" b="1" spc="96" dirty="0">
                <a:solidFill>
                  <a:schemeClr val="accent2">
                    <a:lumMod val="60000"/>
                    <a:lumOff val="40000"/>
                  </a:schemeClr>
                </a:solidFill>
                <a:latin typeface="Montserrat Light"/>
              </a:rPr>
              <a:t>Combination of Values </a:t>
            </a:r>
            <a:r>
              <a:rPr lang="en-US" altLang="en-US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Composite Btree Index</a:t>
            </a: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 is recommended.</a:t>
            </a:r>
          </a:p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 </a:t>
            </a:r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744CA125-C369-5F85-B7AA-40F158166A78}"/>
              </a:ext>
            </a:extLst>
          </p:cNvPr>
          <p:cNvSpPr/>
          <p:nvPr/>
        </p:nvSpPr>
        <p:spPr>
          <a:xfrm>
            <a:off x="1320800" y="5428364"/>
            <a:ext cx="10848701" cy="116902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3" y="0"/>
                </a:lnTo>
                <a:lnTo>
                  <a:pt x="7584003" y="1225783"/>
                </a:lnTo>
                <a:lnTo>
                  <a:pt x="0" y="1225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For </a:t>
            </a:r>
            <a:r>
              <a:rPr lang="en-US" altLang="en-US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Low Cardinality </a:t>
            </a: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of </a:t>
            </a:r>
            <a:r>
              <a:rPr lang="en-US" altLang="en-US" sz="2415" b="1" spc="96" dirty="0">
                <a:solidFill>
                  <a:schemeClr val="accent2">
                    <a:lumMod val="60000"/>
                    <a:lumOff val="40000"/>
                  </a:schemeClr>
                </a:solidFill>
                <a:latin typeface="Montserrat Light"/>
              </a:rPr>
              <a:t>Combination of Values </a:t>
            </a:r>
            <a:r>
              <a:rPr lang="en-US" altLang="en-US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Composite Bitmap Index</a:t>
            </a:r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 is recommended.</a:t>
            </a:r>
          </a:p>
          <a:p>
            <a:pPr lvl="1"/>
            <a:r>
              <a:rPr lang="en-US" altLang="en-US" sz="2415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1BF1C3-877D-28B4-0CA8-A37AFC3008DB}"/>
              </a:ext>
            </a:extLst>
          </p:cNvPr>
          <p:cNvSpPr txBox="1"/>
          <p:nvPr/>
        </p:nvSpPr>
        <p:spPr>
          <a:xfrm>
            <a:off x="2616200" y="880749"/>
            <a:ext cx="6501282" cy="989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8640"/>
              </a:lnSpc>
            </a:pPr>
            <a:r>
              <a:rPr lang="en-US" sz="2800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Types of Composite Index</a:t>
            </a:r>
          </a:p>
        </p:txBody>
      </p:sp>
    </p:spTree>
    <p:extLst>
      <p:ext uri="{BB962C8B-B14F-4D97-AF65-F5344CB8AC3E}">
        <p14:creationId xmlns:p14="http://schemas.microsoft.com/office/powerpoint/2010/main" val="216058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3294" y="717807"/>
            <a:ext cx="10150788" cy="38100"/>
          </a:xfrm>
          <a:custGeom>
            <a:avLst/>
            <a:gdLst/>
            <a:ahLst/>
            <a:cxnLst/>
            <a:rect l="l" t="t" r="r" b="b"/>
            <a:pathLst>
              <a:path w="7613091" h="28575">
                <a:moveTo>
                  <a:pt x="0" y="0"/>
                </a:moveTo>
                <a:lnTo>
                  <a:pt x="7613090" y="0"/>
                </a:lnTo>
                <a:lnTo>
                  <a:pt x="761309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Box 4"/>
          <p:cNvSpPr txBox="1"/>
          <p:nvPr/>
        </p:nvSpPr>
        <p:spPr>
          <a:xfrm>
            <a:off x="1423294" y="914400"/>
            <a:ext cx="10641706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7512" spc="525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Classic Bold"/>
              </a:rPr>
              <a:t>Composite Index</a:t>
            </a:r>
          </a:p>
        </p:txBody>
      </p:sp>
      <p:sp>
        <p:nvSpPr>
          <p:cNvPr id="5" name="Freeform 5"/>
          <p:cNvSpPr/>
          <p:nvPr/>
        </p:nvSpPr>
        <p:spPr>
          <a:xfrm>
            <a:off x="1320799" y="3581400"/>
            <a:ext cx="10112003" cy="1232649"/>
          </a:xfrm>
          <a:custGeom>
            <a:avLst/>
            <a:gdLst/>
            <a:ahLst/>
            <a:cxnLst/>
            <a:rect l="l" t="t" r="r" b="b"/>
            <a:pathLst>
              <a:path w="7584002" h="1225784">
                <a:moveTo>
                  <a:pt x="0" y="0"/>
                </a:moveTo>
                <a:lnTo>
                  <a:pt x="7584002" y="0"/>
                </a:lnTo>
                <a:lnTo>
                  <a:pt x="7584002" y="1225784"/>
                </a:lnTo>
                <a:lnTo>
                  <a:pt x="0" y="122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9353" b="-259353"/>
            </a:stretch>
          </a:blipFill>
        </p:spPr>
        <p:txBody>
          <a:bodyPr/>
          <a:lstStyle/>
          <a:p>
            <a:pPr algn="ctr"/>
            <a:endParaRPr lang="en-US" sz="2415" b="1" spc="96" dirty="0">
              <a:solidFill>
                <a:schemeClr val="tx2">
                  <a:lumMod val="60000"/>
                  <a:lumOff val="40000"/>
                </a:schemeClr>
              </a:solidFill>
              <a:latin typeface="Montserrat Light"/>
            </a:endParaRPr>
          </a:p>
          <a:p>
            <a:pPr algn="ctr"/>
            <a:r>
              <a:rPr lang="en-US" sz="2415" b="1" spc="96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 Light"/>
              </a:rPr>
              <a:t>Let’s explore both types of composite indexes in detail.</a:t>
            </a:r>
          </a:p>
        </p:txBody>
      </p:sp>
    </p:spTree>
    <p:extLst>
      <p:ext uri="{BB962C8B-B14F-4D97-AF65-F5344CB8AC3E}">
        <p14:creationId xmlns:p14="http://schemas.microsoft.com/office/powerpoint/2010/main" val="187884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185</Words>
  <Application>Microsoft Office PowerPoint</Application>
  <PresentationFormat>Custom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Montserrat Light</vt:lpstr>
      <vt:lpstr>Arial</vt:lpstr>
      <vt:lpstr>Calibri</vt:lpstr>
      <vt:lpstr>Montserrat Classic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White PPT</dc:title>
  <dc:creator>USER</dc:creator>
  <cp:lastModifiedBy>Mandar Mulay</cp:lastModifiedBy>
  <cp:revision>90</cp:revision>
  <dcterms:created xsi:type="dcterms:W3CDTF">2006-08-16T00:00:00Z</dcterms:created>
  <dcterms:modified xsi:type="dcterms:W3CDTF">2024-05-29T11:21:16Z</dcterms:modified>
  <dc:identifier>DAFomaKSJEc</dc:identifier>
</cp:coreProperties>
</file>