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5" r:id="rId4"/>
    <p:sldId id="270" r:id="rId5"/>
    <p:sldId id="273" r:id="rId6"/>
    <p:sldId id="274" r:id="rId7"/>
    <p:sldId id="276" r:id="rId8"/>
    <p:sldId id="269" r:id="rId9"/>
    <p:sldId id="275" r:id="rId10"/>
  </p:sldIdLst>
  <p:sldSz cx="13004800" cy="7315200"/>
  <p:notesSz cx="6858000" cy="9144000"/>
  <p:embeddedFontLst>
    <p:embeddedFont>
      <p:font typeface="Montserrat Classic Bold" panose="020B0604020202020204" charset="0"/>
      <p:regular r:id="rId11"/>
    </p:embeddedFont>
    <p:embeddedFont>
      <p:font typeface="Montserrat Light" panose="00000400000000000000" pitchFamily="2" charset="0"/>
      <p:regular r:id="rId12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212" autoAdjust="0"/>
  </p:normalViewPr>
  <p:slideViewPr>
    <p:cSldViewPr>
      <p:cViewPr varScale="1">
        <p:scale>
          <a:sx n="74" d="100"/>
          <a:sy n="74" d="100"/>
        </p:scale>
        <p:origin x="821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A809FC33-BF24-5B77-17F1-A390CB7469A0}"/>
              </a:ext>
            </a:extLst>
          </p:cNvPr>
          <p:cNvSpPr txBox="1"/>
          <p:nvPr userDrawn="1"/>
        </p:nvSpPr>
        <p:spPr>
          <a:xfrm>
            <a:off x="1383192" y="327145"/>
            <a:ext cx="6207139" cy="3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Query Optimization - Indexes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20800" y="1534876"/>
            <a:ext cx="10076924" cy="253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873"/>
              </a:lnSpc>
            </a:pPr>
            <a:r>
              <a:rPr lang="en-US" sz="8585" spc="6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Introducing Indexes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8590" y="6783954"/>
            <a:ext cx="4749800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73651" y="6853292"/>
            <a:ext cx="3467100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599924" y="7094635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3" y="0"/>
                </a:lnTo>
                <a:lnTo>
                  <a:pt x="668883" y="108289"/>
                </a:lnTo>
                <a:lnTo>
                  <a:pt x="0" y="108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8" name="Freeform 8"/>
          <p:cNvSpPr/>
          <p:nvPr/>
        </p:nvSpPr>
        <p:spPr>
          <a:xfrm rot="5400000">
            <a:off x="7216603" y="7103173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2" y="0"/>
                </a:lnTo>
                <a:lnTo>
                  <a:pt x="668882" y="108288"/>
                </a:lnTo>
                <a:lnTo>
                  <a:pt x="0" y="108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1383192" y="327145"/>
            <a:ext cx="6207139" cy="3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Query Optimization - Indexes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83478" y="711201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1" y="0"/>
                </a:lnTo>
                <a:lnTo>
                  <a:pt x="761309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04125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Scenario</a:t>
            </a:r>
          </a:p>
        </p:txBody>
      </p:sp>
      <p:sp>
        <p:nvSpPr>
          <p:cNvPr id="5" name="Freeform 5"/>
          <p:cNvSpPr/>
          <p:nvPr/>
        </p:nvSpPr>
        <p:spPr>
          <a:xfrm>
            <a:off x="1423294" y="3200400"/>
            <a:ext cx="10112003" cy="163437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6" name="TextBox 6"/>
          <p:cNvSpPr txBox="1"/>
          <p:nvPr/>
        </p:nvSpPr>
        <p:spPr>
          <a:xfrm>
            <a:off x="2949704" y="3373759"/>
            <a:ext cx="7924800" cy="127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80"/>
              </a:lnSpc>
            </a:pPr>
            <a:r>
              <a:rPr lang="en-GB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Consider a high-volume table </a:t>
            </a:r>
            <a:r>
              <a:rPr lang="en-GB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Transactions </a:t>
            </a:r>
            <a:r>
              <a:rPr lang="en-GB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having records of cities such as London, Mumbai, Paris, etc.</a:t>
            </a:r>
            <a:endParaRPr 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00410" y="3605915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436581" y="5091054"/>
            <a:ext cx="10112003" cy="163437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3008864" y="5674548"/>
            <a:ext cx="7902445" cy="40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80"/>
              </a:lnSpc>
            </a:pPr>
            <a:r>
              <a:rPr lang="en-GB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There are many records of each city.</a:t>
            </a:r>
            <a:endParaRPr 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00410" y="5491463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04125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Without Indexing</a:t>
            </a:r>
          </a:p>
        </p:txBody>
      </p:sp>
      <p:sp>
        <p:nvSpPr>
          <p:cNvPr id="5" name="Freeform 5"/>
          <p:cNvSpPr/>
          <p:nvPr/>
        </p:nvSpPr>
        <p:spPr>
          <a:xfrm>
            <a:off x="1420950" y="2958351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Select * from Transactions where City = ‘London’;</a:t>
            </a:r>
          </a:p>
        </p:txBody>
      </p:sp>
    </p:spTree>
    <p:extLst>
      <p:ext uri="{BB962C8B-B14F-4D97-AF65-F5344CB8AC3E}">
        <p14:creationId xmlns:p14="http://schemas.microsoft.com/office/powerpoint/2010/main" val="139323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 dirty="0"/>
          </a:p>
        </p:txBody>
      </p:sp>
      <p:grpSp>
        <p:nvGrpSpPr>
          <p:cNvPr id="6" name="Group 6"/>
          <p:cNvGrpSpPr/>
          <p:nvPr/>
        </p:nvGrpSpPr>
        <p:grpSpPr>
          <a:xfrm>
            <a:off x="5913435" y="1295400"/>
            <a:ext cx="5802112" cy="1670884"/>
            <a:chOff x="17243" y="19051"/>
            <a:chExt cx="5802111" cy="948978"/>
          </a:xfrm>
        </p:grpSpPr>
        <p:sp>
          <p:nvSpPr>
            <p:cNvPr id="7" name="TextBox 7"/>
            <p:cNvSpPr txBox="1"/>
            <p:nvPr/>
          </p:nvSpPr>
          <p:spPr>
            <a:xfrm>
              <a:off x="17243" y="19051"/>
              <a:ext cx="5638899" cy="948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405"/>
                </a:lnSpc>
              </a:pPr>
              <a:endParaRPr lang="en-US" sz="6440" spc="45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9008" y="265319"/>
              <a:ext cx="5670346" cy="22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98706" lvl="1" indent="-199354">
                <a:lnSpc>
                  <a:spcPts val="3380"/>
                </a:lnSpc>
                <a:buFont typeface="Arial"/>
                <a:buChar char="•"/>
              </a:pPr>
              <a:r>
                <a:rPr lang="en-US" sz="2415" spc="96" dirty="0">
                  <a:solidFill>
                    <a:srgbClr val="888888"/>
                  </a:solidFill>
                  <a:latin typeface="Montserrat Light"/>
                </a:rPr>
                <a:t>All rows get scanned………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134EEED-9CE3-48B9-F655-A9ED756C3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13" y="1295399"/>
            <a:ext cx="4624388" cy="55911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BD760C26-E4D1-DEF7-D8D9-B09B510A2FAF}"/>
              </a:ext>
            </a:extLst>
          </p:cNvPr>
          <p:cNvSpPr txBox="1"/>
          <p:nvPr/>
        </p:nvSpPr>
        <p:spPr>
          <a:xfrm>
            <a:off x="6045199" y="2470256"/>
            <a:ext cx="5670347" cy="83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8706" lvl="1" indent="-199354">
              <a:lnSpc>
                <a:spcPts val="3380"/>
              </a:lnSpc>
              <a:buFont typeface="Arial"/>
              <a:buChar char="•"/>
            </a:pPr>
            <a:r>
              <a:rPr lang="en-US" sz="2415" spc="96" dirty="0">
                <a:solidFill>
                  <a:srgbClr val="888888"/>
                </a:solidFill>
                <a:latin typeface="Montserrat Light"/>
              </a:rPr>
              <a:t>Big time-consuming process………</a:t>
            </a:r>
          </a:p>
        </p:txBody>
      </p:sp>
    </p:spTree>
    <p:extLst>
      <p:ext uri="{BB962C8B-B14F-4D97-AF65-F5344CB8AC3E}">
        <p14:creationId xmlns:p14="http://schemas.microsoft.com/office/powerpoint/2010/main" val="407385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04125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With Indexing</a:t>
            </a:r>
          </a:p>
        </p:txBody>
      </p:sp>
      <p:sp>
        <p:nvSpPr>
          <p:cNvPr id="5" name="Freeform 5"/>
          <p:cNvSpPr/>
          <p:nvPr/>
        </p:nvSpPr>
        <p:spPr>
          <a:xfrm>
            <a:off x="1420950" y="2958351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Consider that the </a:t>
            </a:r>
            <a:r>
              <a:rPr lang="en-US" sz="2415" b="1" u="sng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City column </a:t>
            </a:r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is Indexed!!!</a:t>
            </a:r>
          </a:p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And the same select statement is executed.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07EB562F-85F2-5430-FA3B-37DE608649F7}"/>
              </a:ext>
            </a:extLst>
          </p:cNvPr>
          <p:cNvSpPr/>
          <p:nvPr/>
        </p:nvSpPr>
        <p:spPr>
          <a:xfrm>
            <a:off x="1420949" y="4507728"/>
            <a:ext cx="10112003" cy="988567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Select * from Transactions where City = ‘London’;</a:t>
            </a:r>
          </a:p>
        </p:txBody>
      </p:sp>
    </p:spTree>
    <p:extLst>
      <p:ext uri="{BB962C8B-B14F-4D97-AF65-F5344CB8AC3E}">
        <p14:creationId xmlns:p14="http://schemas.microsoft.com/office/powerpoint/2010/main" val="105338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 dirty="0"/>
          </a:p>
        </p:txBody>
      </p:sp>
      <p:grpSp>
        <p:nvGrpSpPr>
          <p:cNvPr id="6" name="Group 6"/>
          <p:cNvGrpSpPr/>
          <p:nvPr/>
        </p:nvGrpSpPr>
        <p:grpSpPr>
          <a:xfrm>
            <a:off x="5913435" y="1295400"/>
            <a:ext cx="5802112" cy="2133600"/>
            <a:chOff x="17243" y="19051"/>
            <a:chExt cx="5802111" cy="948978"/>
          </a:xfrm>
        </p:grpSpPr>
        <p:sp>
          <p:nvSpPr>
            <p:cNvPr id="7" name="TextBox 7"/>
            <p:cNvSpPr txBox="1"/>
            <p:nvPr/>
          </p:nvSpPr>
          <p:spPr>
            <a:xfrm>
              <a:off x="17243" y="19051"/>
              <a:ext cx="5638899" cy="948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405"/>
                </a:lnSpc>
              </a:pPr>
              <a:endParaRPr lang="en-US" sz="6440" spc="45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9008" y="265319"/>
              <a:ext cx="5670346" cy="373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98706" lvl="1" indent="-199354">
                <a:lnSpc>
                  <a:spcPts val="3380"/>
                </a:lnSpc>
                <a:buFont typeface="Arial"/>
                <a:buChar char="•"/>
              </a:pPr>
              <a:r>
                <a:rPr lang="en-US" sz="2415" spc="96" dirty="0">
                  <a:solidFill>
                    <a:srgbClr val="888888"/>
                  </a:solidFill>
                  <a:latin typeface="Montserrat Light"/>
                </a:rPr>
                <a:t>A binary table gets created at the time of index creation.</a:t>
              </a:r>
            </a:p>
          </p:txBody>
        </p:sp>
      </p:grpSp>
      <p:sp>
        <p:nvSpPr>
          <p:cNvPr id="5" name="TextBox 8">
            <a:extLst>
              <a:ext uri="{FF2B5EF4-FFF2-40B4-BE49-F238E27FC236}">
                <a16:creationId xmlns:a16="http://schemas.microsoft.com/office/drawing/2014/main" id="{BD760C26-E4D1-DEF7-D8D9-B09B510A2FAF}"/>
              </a:ext>
            </a:extLst>
          </p:cNvPr>
          <p:cNvSpPr txBox="1"/>
          <p:nvPr/>
        </p:nvSpPr>
        <p:spPr>
          <a:xfrm>
            <a:off x="6045199" y="2675215"/>
            <a:ext cx="5670347" cy="83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8706" lvl="1" indent="-199354">
              <a:lnSpc>
                <a:spcPts val="3380"/>
              </a:lnSpc>
              <a:buFont typeface="Arial"/>
              <a:buChar char="•"/>
            </a:pPr>
            <a:r>
              <a:rPr lang="en-US" sz="2415" spc="96" dirty="0">
                <a:solidFill>
                  <a:srgbClr val="888888"/>
                </a:solidFill>
                <a:latin typeface="Montserrat Light"/>
              </a:rPr>
              <a:t>It keeps track of row ids of each city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CA7056-DAED-DD38-B916-1AF99C6C7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294" y="1447800"/>
            <a:ext cx="4391025" cy="2400300"/>
          </a:xfrm>
          <a:prstGeom prst="rect">
            <a:avLst/>
          </a:prstGeom>
        </p:spPr>
      </p:pic>
      <p:sp>
        <p:nvSpPr>
          <p:cNvPr id="10" name="Scroll: Vertical 9">
            <a:extLst>
              <a:ext uri="{FF2B5EF4-FFF2-40B4-BE49-F238E27FC236}">
                <a16:creationId xmlns:a16="http://schemas.microsoft.com/office/drawing/2014/main" id="{2841E4F6-1AE8-4246-8275-7249864A8E82}"/>
              </a:ext>
            </a:extLst>
          </p:cNvPr>
          <p:cNvSpPr/>
          <p:nvPr/>
        </p:nvSpPr>
        <p:spPr>
          <a:xfrm>
            <a:off x="3618806" y="4155972"/>
            <a:ext cx="4391025" cy="2514600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dirty="0"/>
          </a:p>
          <a:p>
            <a:pPr algn="l"/>
            <a:endParaRPr lang="en-IN" sz="1100" dirty="0"/>
          </a:p>
          <a:p>
            <a:pPr algn="l"/>
            <a:r>
              <a:rPr lang="en-IN" sz="2400" b="1" dirty="0"/>
              <a:t>A Full</a:t>
            </a:r>
            <a:r>
              <a:rPr lang="en-IN" sz="2400" b="1" baseline="0" dirty="0"/>
              <a:t> </a:t>
            </a:r>
            <a:r>
              <a:rPr lang="en-IN" sz="2400" b="1" dirty="0"/>
              <a:t>Table Scan (FTS) gets eliminated!!</a:t>
            </a:r>
          </a:p>
          <a:p>
            <a:pPr algn="l"/>
            <a:r>
              <a:rPr lang="en-IN" sz="2400" b="1" dirty="0"/>
              <a:t>Only </a:t>
            </a:r>
            <a:r>
              <a:rPr lang="en-IN" sz="2400" b="1" u="sng" dirty="0"/>
              <a:t>selective</a:t>
            </a:r>
            <a:r>
              <a:rPr lang="en-IN" sz="2400" b="1" dirty="0"/>
              <a:t> rows are scanned!!</a:t>
            </a:r>
          </a:p>
        </p:txBody>
      </p:sp>
    </p:spTree>
    <p:extLst>
      <p:ext uri="{BB962C8B-B14F-4D97-AF65-F5344CB8AC3E}">
        <p14:creationId xmlns:p14="http://schemas.microsoft.com/office/powerpoint/2010/main" val="81625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94106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Advantage of  Indexing</a:t>
            </a:r>
          </a:p>
        </p:txBody>
      </p:sp>
      <p:sp>
        <p:nvSpPr>
          <p:cNvPr id="5" name="Freeform 5"/>
          <p:cNvSpPr/>
          <p:nvPr/>
        </p:nvSpPr>
        <p:spPr>
          <a:xfrm>
            <a:off x="1393428" y="3687745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The data retrieval of a select statement will become fast!!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EC71386F-E028-D38B-DA14-186CEB357962}"/>
              </a:ext>
            </a:extLst>
          </p:cNvPr>
          <p:cNvSpPr/>
          <p:nvPr/>
        </p:nvSpPr>
        <p:spPr>
          <a:xfrm>
            <a:off x="1442686" y="5257800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It also can avoid </a:t>
            </a:r>
            <a:r>
              <a:rPr lang="en-US" sz="2415" b="1" u="sng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Disk Sorts</a:t>
            </a:r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08069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04125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More about Index table – Part 1</a:t>
            </a:r>
          </a:p>
        </p:txBody>
      </p:sp>
      <p:sp>
        <p:nvSpPr>
          <p:cNvPr id="5" name="Freeform 5"/>
          <p:cNvSpPr/>
          <p:nvPr/>
        </p:nvSpPr>
        <p:spPr>
          <a:xfrm>
            <a:off x="1423294" y="3200400"/>
            <a:ext cx="10112003" cy="163437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6" name="TextBox 6"/>
          <p:cNvSpPr txBox="1"/>
          <p:nvPr/>
        </p:nvSpPr>
        <p:spPr>
          <a:xfrm>
            <a:off x="2963827" y="3274308"/>
            <a:ext cx="7924800" cy="148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After creating the index, later when new records get added, or some records get deleted, or some records get updated then the index table gets </a:t>
            </a:r>
            <a:r>
              <a:rPr 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auto refreshed</a:t>
            </a:r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!!</a:t>
            </a:r>
            <a:endParaRPr lang="en-IN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00410" y="3605915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436581" y="5091055"/>
            <a:ext cx="10112003" cy="1301714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3022747" y="5491463"/>
            <a:ext cx="7902445" cy="37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Caution </a:t>
            </a:r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  <a:sym typeface="Wingdings" panose="05000000000000000000" pitchFamily="2" charset="2"/>
              </a:rPr>
              <a:t> Index table occupies space</a:t>
            </a:r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.</a:t>
            </a:r>
            <a:endParaRPr lang="en-IN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00410" y="5491463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1652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04125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More about Index table – Part 2</a:t>
            </a:r>
          </a:p>
        </p:txBody>
      </p:sp>
      <p:sp>
        <p:nvSpPr>
          <p:cNvPr id="5" name="Freeform 5"/>
          <p:cNvSpPr/>
          <p:nvPr/>
        </p:nvSpPr>
        <p:spPr>
          <a:xfrm>
            <a:off x="1423294" y="3200400"/>
            <a:ext cx="10112003" cy="163437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6" name="TextBox 6"/>
          <p:cNvSpPr txBox="1"/>
          <p:nvPr/>
        </p:nvSpPr>
        <p:spPr>
          <a:xfrm>
            <a:off x="2963827" y="3274308"/>
            <a:ext cx="7924800" cy="148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Caution </a:t>
            </a:r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  <a:sym typeface="Wingdings" panose="05000000000000000000" pitchFamily="2" charset="2"/>
              </a:rPr>
              <a:t></a:t>
            </a:r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When DML happens in the main table then the index table first gets refreshed and then the main table gets refreshed. This can slow down </a:t>
            </a:r>
            <a:r>
              <a:rPr 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Bulk DML.</a:t>
            </a:r>
            <a:endParaRPr lang="en-IN" sz="2415" b="1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00410" y="3605915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03</a:t>
            </a:r>
          </a:p>
        </p:txBody>
      </p:sp>
      <p:sp>
        <p:nvSpPr>
          <p:cNvPr id="8" name="Freeform 8"/>
          <p:cNvSpPr/>
          <p:nvPr/>
        </p:nvSpPr>
        <p:spPr>
          <a:xfrm>
            <a:off x="1436581" y="5091055"/>
            <a:ext cx="10112003" cy="1301714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2943172" y="5184451"/>
            <a:ext cx="7902445" cy="1114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Caution </a:t>
            </a:r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  <a:sym typeface="Wingdings" panose="05000000000000000000" pitchFamily="2" charset="2"/>
              </a:rPr>
              <a:t> Index is of no use if the select statement is retrieving more than 80% of records.  </a:t>
            </a:r>
            <a:endParaRPr lang="en-IN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00410" y="5491463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407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252</Words>
  <Application>Microsoft Office PowerPoint</Application>
  <PresentationFormat>Custom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Montserrat Light</vt:lpstr>
      <vt:lpstr>Arial</vt:lpstr>
      <vt:lpstr>Calibri</vt:lpstr>
      <vt:lpstr>Montserrat Classic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White PPT</dc:title>
  <dc:creator>USER</dc:creator>
  <cp:lastModifiedBy>Mandar Mulay</cp:lastModifiedBy>
  <cp:revision>86</cp:revision>
  <dcterms:created xsi:type="dcterms:W3CDTF">2006-08-16T00:00:00Z</dcterms:created>
  <dcterms:modified xsi:type="dcterms:W3CDTF">2024-06-29T10:30:37Z</dcterms:modified>
  <dc:identifier>DAFomaKSJEc</dc:identifier>
</cp:coreProperties>
</file>