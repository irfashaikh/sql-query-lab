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5" r:id="rId3"/>
    <p:sldId id="259" r:id="rId4"/>
    <p:sldId id="270" r:id="rId5"/>
    <p:sldId id="273" r:id="rId6"/>
    <p:sldId id="274" r:id="rId7"/>
  </p:sldIdLst>
  <p:sldSz cx="13004800" cy="7315200"/>
  <p:notesSz cx="6858000" cy="9144000"/>
  <p:embeddedFontLst>
    <p:embeddedFont>
      <p:font typeface="Montserrat Classic Bold" panose="020B0604020202020204" charset="0"/>
      <p:regular r:id="rId8"/>
    </p:embeddedFont>
    <p:embeddedFont>
      <p:font typeface="Montserrat Light" panose="00000400000000000000" pitchFamily="2" charset="0"/>
      <p:regular r:id="rId9"/>
      <p: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46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212" autoAdjust="0"/>
  </p:normalViewPr>
  <p:slideViewPr>
    <p:cSldViewPr>
      <p:cViewPr varScale="1">
        <p:scale>
          <a:sx n="74" d="100"/>
          <a:sy n="74" d="100"/>
        </p:scale>
        <p:origin x="821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0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A809FC33-BF24-5B77-17F1-A390CB7469A0}"/>
              </a:ext>
            </a:extLst>
          </p:cNvPr>
          <p:cNvSpPr txBox="1"/>
          <p:nvPr userDrawn="1"/>
        </p:nvSpPr>
        <p:spPr>
          <a:xfrm>
            <a:off x="1383192" y="327145"/>
            <a:ext cx="6207139" cy="313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29"/>
              </a:lnSpc>
            </a:pPr>
            <a:r>
              <a:rPr lang="en-US" sz="2000" spc="20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Query Optimization - Indexes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20800" y="1534876"/>
            <a:ext cx="10076924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873"/>
              </a:lnSpc>
            </a:pPr>
            <a:r>
              <a:rPr lang="en-US" sz="8585" spc="600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B-Tree Index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8590" y="6783954"/>
            <a:ext cx="4749800" cy="313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29"/>
              </a:lnSpc>
            </a:pPr>
            <a:r>
              <a:rPr lang="en-US" sz="2000" spc="205" dirty="0">
                <a:solidFill>
                  <a:srgbClr val="FFFFFF"/>
                </a:solidFill>
                <a:latin typeface="Montserrat Light"/>
              </a:rPr>
              <a:t>TEXT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73651" y="6853292"/>
            <a:ext cx="3467100" cy="313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29"/>
              </a:lnSpc>
            </a:pPr>
            <a:r>
              <a:rPr lang="en-US" sz="2000" spc="205" dirty="0">
                <a:solidFill>
                  <a:srgbClr val="FFFFFF"/>
                </a:solidFill>
                <a:latin typeface="Montserrat Light"/>
              </a:rPr>
              <a:t>TEXT</a:t>
            </a:r>
          </a:p>
        </p:txBody>
      </p:sp>
      <p:sp>
        <p:nvSpPr>
          <p:cNvPr id="7" name="Freeform 7"/>
          <p:cNvSpPr/>
          <p:nvPr/>
        </p:nvSpPr>
        <p:spPr>
          <a:xfrm rot="5400000">
            <a:off x="599924" y="7094635"/>
            <a:ext cx="891843" cy="144384"/>
          </a:xfrm>
          <a:custGeom>
            <a:avLst/>
            <a:gdLst/>
            <a:ahLst/>
            <a:cxnLst/>
            <a:rect l="l" t="t" r="r" b="b"/>
            <a:pathLst>
              <a:path w="668882" h="108288">
                <a:moveTo>
                  <a:pt x="0" y="0"/>
                </a:moveTo>
                <a:lnTo>
                  <a:pt x="668883" y="0"/>
                </a:lnTo>
                <a:lnTo>
                  <a:pt x="668883" y="108289"/>
                </a:lnTo>
                <a:lnTo>
                  <a:pt x="0" y="1082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8842" b="-258842"/>
            </a:stretch>
          </a:blipFill>
        </p:spPr>
        <p:txBody>
          <a:bodyPr/>
          <a:lstStyle/>
          <a:p>
            <a:endParaRPr lang="en-US" sz="2400"/>
          </a:p>
        </p:txBody>
      </p:sp>
      <p:sp>
        <p:nvSpPr>
          <p:cNvPr id="8" name="Freeform 8"/>
          <p:cNvSpPr/>
          <p:nvPr/>
        </p:nvSpPr>
        <p:spPr>
          <a:xfrm rot="5400000">
            <a:off x="7216603" y="7103173"/>
            <a:ext cx="891843" cy="144384"/>
          </a:xfrm>
          <a:custGeom>
            <a:avLst/>
            <a:gdLst/>
            <a:ahLst/>
            <a:cxnLst/>
            <a:rect l="l" t="t" r="r" b="b"/>
            <a:pathLst>
              <a:path w="668882" h="108288">
                <a:moveTo>
                  <a:pt x="0" y="0"/>
                </a:moveTo>
                <a:lnTo>
                  <a:pt x="668882" y="0"/>
                </a:lnTo>
                <a:lnTo>
                  <a:pt x="668882" y="108288"/>
                </a:lnTo>
                <a:lnTo>
                  <a:pt x="0" y="108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8842" b="-258842"/>
            </a:stretch>
          </a:blipFill>
        </p:spPr>
        <p:txBody>
          <a:bodyPr/>
          <a:lstStyle/>
          <a:p>
            <a:endParaRPr lang="en-US" sz="2400"/>
          </a:p>
        </p:txBody>
      </p:sp>
      <p:sp>
        <p:nvSpPr>
          <p:cNvPr id="9" name="TextBox 9"/>
          <p:cNvSpPr txBox="1"/>
          <p:nvPr/>
        </p:nvSpPr>
        <p:spPr>
          <a:xfrm>
            <a:off x="1383192" y="327145"/>
            <a:ext cx="6207139" cy="313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29"/>
              </a:lnSpc>
            </a:pPr>
            <a:r>
              <a:rPr lang="en-US" sz="2000" spc="20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Query Optimization - Indexes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383478" y="711201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1" y="0"/>
                </a:lnTo>
                <a:lnTo>
                  <a:pt x="7613091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423294" y="717807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0" y="0"/>
                </a:lnTo>
                <a:lnTo>
                  <a:pt x="761309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Box 4"/>
          <p:cNvSpPr txBox="1"/>
          <p:nvPr/>
        </p:nvSpPr>
        <p:spPr>
          <a:xfrm>
            <a:off x="1423294" y="922432"/>
            <a:ext cx="10704125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40"/>
              </a:lnSpc>
            </a:pPr>
            <a:r>
              <a:rPr lang="en-US" sz="7512" spc="52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B-Tree Index</a:t>
            </a:r>
          </a:p>
        </p:txBody>
      </p:sp>
      <p:sp>
        <p:nvSpPr>
          <p:cNvPr id="8" name="Freeform 8"/>
          <p:cNvSpPr/>
          <p:nvPr/>
        </p:nvSpPr>
        <p:spPr>
          <a:xfrm>
            <a:off x="1320800" y="2164731"/>
            <a:ext cx="11118457" cy="1102867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3" y="0"/>
                </a:lnTo>
                <a:lnTo>
                  <a:pt x="7584003" y="1225783"/>
                </a:lnTo>
                <a:lnTo>
                  <a:pt x="0" y="1225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9" name="TextBox 9"/>
          <p:cNvSpPr txBox="1"/>
          <p:nvPr/>
        </p:nvSpPr>
        <p:spPr>
          <a:xfrm>
            <a:off x="2885102" y="2409739"/>
            <a:ext cx="8688980" cy="371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The </a:t>
            </a:r>
            <a:r>
              <a:rPr lang="en-US" altLang="en-US" sz="2415" b="1" u="sng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default</a:t>
            </a:r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 type of index in Oracle is B-Tree index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05101" y="2202452"/>
            <a:ext cx="1285474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80"/>
              </a:lnSpc>
            </a:pPr>
            <a:r>
              <a:rPr lang="en-US" sz="5635" spc="393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01</a:t>
            </a:r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1C656DCD-E2B1-B98A-33EC-68D62A0F550A}"/>
              </a:ext>
            </a:extLst>
          </p:cNvPr>
          <p:cNvSpPr/>
          <p:nvPr/>
        </p:nvSpPr>
        <p:spPr>
          <a:xfrm>
            <a:off x="1320800" y="3648389"/>
            <a:ext cx="11118457" cy="1449425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3" y="0"/>
                </a:lnTo>
                <a:lnTo>
                  <a:pt x="7584003" y="1225783"/>
                </a:lnTo>
                <a:lnTo>
                  <a:pt x="0" y="1225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DA0CA80C-6F7C-EA96-D291-3BDD6588D3C5}"/>
              </a:ext>
            </a:extLst>
          </p:cNvPr>
          <p:cNvSpPr txBox="1"/>
          <p:nvPr/>
        </p:nvSpPr>
        <p:spPr>
          <a:xfrm>
            <a:off x="2841628" y="3847986"/>
            <a:ext cx="8688980" cy="371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B stands for </a:t>
            </a:r>
            <a:r>
              <a:rPr lang="en-US" altLang="en-US" sz="2415" b="1" i="1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Balanced</a:t>
            </a:r>
            <a:endParaRPr lang="en-US" altLang="en-US" sz="2415" spc="96" dirty="0">
              <a:solidFill>
                <a:schemeClr val="tx2">
                  <a:lumMod val="60000"/>
                  <a:lumOff val="40000"/>
                </a:schemeClr>
              </a:solidFill>
              <a:latin typeface="Montserrat Light"/>
            </a:endParaRP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E80C3E9F-5FA6-8F50-4128-32B61AD0B808}"/>
              </a:ext>
            </a:extLst>
          </p:cNvPr>
          <p:cNvSpPr txBox="1"/>
          <p:nvPr/>
        </p:nvSpPr>
        <p:spPr>
          <a:xfrm>
            <a:off x="1693954" y="3823010"/>
            <a:ext cx="1285474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80"/>
              </a:lnSpc>
            </a:pPr>
            <a:r>
              <a:rPr lang="en-US" sz="5635" spc="393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02</a:t>
            </a:r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F05ECC04-C484-BAF0-ABB8-D3DB55CC4903}"/>
              </a:ext>
            </a:extLst>
          </p:cNvPr>
          <p:cNvSpPr/>
          <p:nvPr/>
        </p:nvSpPr>
        <p:spPr>
          <a:xfrm>
            <a:off x="1365282" y="5478605"/>
            <a:ext cx="11118457" cy="1607995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3" y="0"/>
                </a:lnTo>
                <a:lnTo>
                  <a:pt x="7584003" y="1225783"/>
                </a:lnTo>
                <a:lnTo>
                  <a:pt x="0" y="1225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EDB54D65-B9E1-B027-01B0-47786E0F47F7}"/>
              </a:ext>
            </a:extLst>
          </p:cNvPr>
          <p:cNvSpPr txBox="1"/>
          <p:nvPr/>
        </p:nvSpPr>
        <p:spPr>
          <a:xfrm>
            <a:off x="2692400" y="5478605"/>
            <a:ext cx="8688980" cy="14865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en-GB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This index type is known as B-tree because the table row identifier (ROWID) and associated column values are stored within index blocks in a balanced tree- like structure. </a:t>
            </a:r>
            <a:endParaRPr lang="en-US" altLang="en-US" sz="2415" spc="96" dirty="0">
              <a:solidFill>
                <a:schemeClr val="tx2">
                  <a:lumMod val="60000"/>
                  <a:lumOff val="40000"/>
                </a:schemeClr>
              </a:solidFill>
              <a:latin typeface="Montserrat Light"/>
            </a:endParaRP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A1124405-E7A0-E5DD-2BF5-722EE2FCE5DA}"/>
              </a:ext>
            </a:extLst>
          </p:cNvPr>
          <p:cNvSpPr txBox="1"/>
          <p:nvPr/>
        </p:nvSpPr>
        <p:spPr>
          <a:xfrm>
            <a:off x="1738436" y="5653226"/>
            <a:ext cx="1285474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80"/>
              </a:lnSpc>
            </a:pPr>
            <a:r>
              <a:rPr lang="en-US" sz="5635" spc="393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521980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4" grpId="0" animBg="1"/>
      <p:bldP spid="15" grpId="0"/>
      <p:bldP spid="16" grpId="0"/>
      <p:bldP spid="5" grpId="0" animBg="1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423294" y="717807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0" y="0"/>
                </a:lnTo>
                <a:lnTo>
                  <a:pt x="761309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Box 4"/>
          <p:cNvSpPr txBox="1"/>
          <p:nvPr/>
        </p:nvSpPr>
        <p:spPr>
          <a:xfrm>
            <a:off x="1423294" y="922432"/>
            <a:ext cx="10704125" cy="2205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40"/>
              </a:lnSpc>
            </a:pPr>
            <a:r>
              <a:rPr lang="en-US" sz="7512" spc="52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Mechanism of </a:t>
            </a:r>
          </a:p>
          <a:p>
            <a:pPr>
              <a:lnSpc>
                <a:spcPts val="8640"/>
              </a:lnSpc>
            </a:pPr>
            <a:r>
              <a:rPr lang="en-US" sz="7512" spc="52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B-Tree Index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49704" y="3373759"/>
            <a:ext cx="7924800" cy="148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/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At the top of the index is the </a:t>
            </a:r>
            <a:r>
              <a:rPr lang="en-US" altLang="en-US" sz="2415" b="1" u="sng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root</a:t>
            </a:r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, which contains entries that point to the next level in the index. </a:t>
            </a:r>
          </a:p>
          <a:p>
            <a:pPr lvl="1"/>
            <a:endParaRPr lang="en-US" altLang="en-US" sz="2415" spc="96" dirty="0">
              <a:solidFill>
                <a:schemeClr val="tx2">
                  <a:lumMod val="60000"/>
                  <a:lumOff val="40000"/>
                </a:schemeClr>
              </a:solidFill>
              <a:latin typeface="Montserrat Ligh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00455" y="3240819"/>
            <a:ext cx="1169112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80"/>
              </a:lnSpc>
            </a:pPr>
            <a:r>
              <a:rPr lang="en-US" sz="5635" spc="393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01</a:t>
            </a:r>
          </a:p>
        </p:txBody>
      </p:sp>
      <p:sp>
        <p:nvSpPr>
          <p:cNvPr id="8" name="Freeform 8"/>
          <p:cNvSpPr/>
          <p:nvPr/>
        </p:nvSpPr>
        <p:spPr>
          <a:xfrm>
            <a:off x="1521099" y="4520878"/>
            <a:ext cx="11118457" cy="1449425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3" y="0"/>
                </a:lnTo>
                <a:lnTo>
                  <a:pt x="7584003" y="1225783"/>
                </a:lnTo>
                <a:lnTo>
                  <a:pt x="0" y="1225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9" name="TextBox 9"/>
          <p:cNvSpPr txBox="1"/>
          <p:nvPr/>
        </p:nvSpPr>
        <p:spPr>
          <a:xfrm>
            <a:off x="2969567" y="4921504"/>
            <a:ext cx="8688980" cy="743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At the next level are </a:t>
            </a:r>
            <a:r>
              <a:rPr lang="en-US" altLang="en-US" sz="2415" b="1" u="sng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branch</a:t>
            </a:r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 blocks, which in turn point to blocks at the next level in the index.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09780" y="4737093"/>
            <a:ext cx="1285474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80"/>
              </a:lnSpc>
            </a:pPr>
            <a:r>
              <a:rPr lang="en-US" sz="5635" spc="393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02</a:t>
            </a:r>
          </a:p>
        </p:txBody>
      </p:sp>
      <p:sp>
        <p:nvSpPr>
          <p:cNvPr id="2" name="Freeform 8">
            <a:extLst>
              <a:ext uri="{FF2B5EF4-FFF2-40B4-BE49-F238E27FC236}">
                <a16:creationId xmlns:a16="http://schemas.microsoft.com/office/drawing/2014/main" id="{60BB5662-34C5-FBA0-56B8-B7A788205336}"/>
              </a:ext>
            </a:extLst>
          </p:cNvPr>
          <p:cNvSpPr/>
          <p:nvPr/>
        </p:nvSpPr>
        <p:spPr>
          <a:xfrm>
            <a:off x="1521099" y="3251086"/>
            <a:ext cx="10112003" cy="1169029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3" y="0"/>
                </a:lnTo>
                <a:lnTo>
                  <a:pt x="7584003" y="1225783"/>
                </a:lnTo>
                <a:lnTo>
                  <a:pt x="0" y="1225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1C656DCD-E2B1-B98A-33EC-68D62A0F550A}"/>
              </a:ext>
            </a:extLst>
          </p:cNvPr>
          <p:cNvSpPr/>
          <p:nvPr/>
        </p:nvSpPr>
        <p:spPr>
          <a:xfrm>
            <a:off x="1423294" y="5955926"/>
            <a:ext cx="11118457" cy="1449425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3" y="0"/>
                </a:lnTo>
                <a:lnTo>
                  <a:pt x="7584003" y="1225783"/>
                </a:lnTo>
                <a:lnTo>
                  <a:pt x="0" y="1225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DA0CA80C-6F7C-EA96-D291-3BDD6588D3C5}"/>
              </a:ext>
            </a:extLst>
          </p:cNvPr>
          <p:cNvSpPr txBox="1"/>
          <p:nvPr/>
        </p:nvSpPr>
        <p:spPr>
          <a:xfrm>
            <a:off x="2944122" y="6155523"/>
            <a:ext cx="8688980" cy="11149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At the lowest level are the</a:t>
            </a:r>
            <a:r>
              <a:rPr lang="en-US" altLang="en-US" sz="2415" b="1" u="sng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 leaf </a:t>
            </a:r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nodes, which contain the index entries that point to rows in the table. 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E80C3E9F-5FA6-8F50-4128-32B61AD0B808}"/>
              </a:ext>
            </a:extLst>
          </p:cNvPr>
          <p:cNvSpPr txBox="1"/>
          <p:nvPr/>
        </p:nvSpPr>
        <p:spPr>
          <a:xfrm>
            <a:off x="1796448" y="6130547"/>
            <a:ext cx="1285474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80"/>
              </a:lnSpc>
            </a:pPr>
            <a:r>
              <a:rPr lang="en-US" sz="5635" spc="393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03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0" grpId="0"/>
      <p:bldP spid="2" grpId="0" animBg="1"/>
      <p:bldP spid="14" grpId="0" animBg="1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423294" y="717807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0" y="0"/>
                </a:lnTo>
                <a:lnTo>
                  <a:pt x="761309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/>
          </a:p>
        </p:txBody>
      </p:sp>
      <p:grpSp>
        <p:nvGrpSpPr>
          <p:cNvPr id="6" name="Group 6"/>
          <p:cNvGrpSpPr/>
          <p:nvPr/>
        </p:nvGrpSpPr>
        <p:grpSpPr>
          <a:xfrm>
            <a:off x="6502399" y="1222027"/>
            <a:ext cx="5443597" cy="1744257"/>
            <a:chOff x="17243" y="-22621"/>
            <a:chExt cx="6058596" cy="990650"/>
          </a:xfrm>
        </p:grpSpPr>
        <p:sp>
          <p:nvSpPr>
            <p:cNvPr id="7" name="TextBox 7"/>
            <p:cNvSpPr txBox="1"/>
            <p:nvPr/>
          </p:nvSpPr>
          <p:spPr>
            <a:xfrm>
              <a:off x="17243" y="19051"/>
              <a:ext cx="5638899" cy="9489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405"/>
                </a:lnSpc>
              </a:pPr>
              <a:endParaRPr lang="en-US" sz="6440" spc="451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05493" y="-22621"/>
              <a:ext cx="5670346" cy="4768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199352" lvl="1">
                <a:lnSpc>
                  <a:spcPts val="3380"/>
                </a:lnSpc>
              </a:pPr>
              <a:r>
                <a:rPr lang="en-US" sz="2415" b="1" spc="9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Creating a B-Tree Index on the Order ids of Sales table.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DD889C7-7D60-FCEA-1534-F57B42480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400" y="990600"/>
            <a:ext cx="5066503" cy="60198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C8D0C6B-7DEC-0261-9CB2-5A6FB7554E97}"/>
              </a:ext>
            </a:extLst>
          </p:cNvPr>
          <p:cNvSpPr/>
          <p:nvPr/>
        </p:nvSpPr>
        <p:spPr>
          <a:xfrm>
            <a:off x="7054450" y="2401016"/>
            <a:ext cx="5467750" cy="17163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/>
              <a:t>Index Values are by default sorted </a:t>
            </a:r>
            <a:r>
              <a:rPr lang="en-GB" sz="2400" b="1" dirty="0">
                <a:solidFill>
                  <a:schemeClr val="tx1"/>
                </a:solidFill>
              </a:rPr>
              <a:t>Ascending, i.e., Left (min) to Right (max)</a:t>
            </a:r>
          </a:p>
          <a:p>
            <a:endParaRPr lang="en-IN" sz="2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73017C-0209-BFC9-7F01-D8390DAC1D5E}"/>
              </a:ext>
            </a:extLst>
          </p:cNvPr>
          <p:cNvSpPr/>
          <p:nvPr/>
        </p:nvSpPr>
        <p:spPr>
          <a:xfrm>
            <a:off x="7054450" y="4418340"/>
            <a:ext cx="5467750" cy="25920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/>
              <a:t>But while creating index we can specify that sorting as </a:t>
            </a:r>
            <a:r>
              <a:rPr lang="en-GB" sz="2400" b="1" dirty="0">
                <a:solidFill>
                  <a:schemeClr val="tx1"/>
                </a:solidFill>
              </a:rPr>
              <a:t>Descending, i.e., Left (max) to Right (min)</a:t>
            </a:r>
            <a:r>
              <a:rPr lang="en-GB" sz="2400" dirty="0"/>
              <a:t> which really helps in certain scenarios!!</a:t>
            </a:r>
          </a:p>
          <a:p>
            <a:endParaRPr lang="en-IN" sz="24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83EC6C-0B0E-FA6C-DA0D-96D2C7C86A40}"/>
              </a:ext>
            </a:extLst>
          </p:cNvPr>
          <p:cNvCxnSpPr>
            <a:cxnSpLocks/>
          </p:cNvCxnSpPr>
          <p:nvPr/>
        </p:nvCxnSpPr>
        <p:spPr>
          <a:xfrm>
            <a:off x="7161719" y="3585154"/>
            <a:ext cx="505568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1C01C8B-DF2C-812D-5D36-58183406E992}"/>
              </a:ext>
            </a:extLst>
          </p:cNvPr>
          <p:cNvSpPr txBox="1"/>
          <p:nvPr/>
        </p:nvSpPr>
        <p:spPr>
          <a:xfrm>
            <a:off x="7056605" y="3585155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0</a:t>
            </a:r>
            <a:endParaRPr lang="en-IN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28388F-3745-F622-3147-15BBDDEE4B64}"/>
              </a:ext>
            </a:extLst>
          </p:cNvPr>
          <p:cNvSpPr txBox="1"/>
          <p:nvPr/>
        </p:nvSpPr>
        <p:spPr>
          <a:xfrm>
            <a:off x="11579382" y="3594155"/>
            <a:ext cx="733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100</a:t>
            </a:r>
            <a:endParaRPr lang="en-IN" sz="28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2CCE277-C351-A9C2-0DF6-5836E816DCFB}"/>
              </a:ext>
            </a:extLst>
          </p:cNvPr>
          <p:cNvCxnSpPr>
            <a:cxnSpLocks/>
          </p:cNvCxnSpPr>
          <p:nvPr/>
        </p:nvCxnSpPr>
        <p:spPr>
          <a:xfrm flipH="1">
            <a:off x="7198132" y="6414231"/>
            <a:ext cx="486686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EE0EAA-8235-9C08-7919-03C30EB8DC95}"/>
              </a:ext>
            </a:extLst>
          </p:cNvPr>
          <p:cNvSpPr txBox="1"/>
          <p:nvPr/>
        </p:nvSpPr>
        <p:spPr>
          <a:xfrm>
            <a:off x="7121718" y="6428086"/>
            <a:ext cx="733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100</a:t>
            </a:r>
            <a:endParaRPr lang="en-IN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FB4CEB-F5D2-F542-E943-57C258031165}"/>
              </a:ext>
            </a:extLst>
          </p:cNvPr>
          <p:cNvSpPr txBox="1"/>
          <p:nvPr/>
        </p:nvSpPr>
        <p:spPr>
          <a:xfrm>
            <a:off x="11792360" y="6413808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0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073854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1" grpId="0"/>
      <p:bldP spid="12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423294" y="717807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0" y="0"/>
                </a:lnTo>
                <a:lnTo>
                  <a:pt x="761309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Box 4"/>
          <p:cNvSpPr txBox="1"/>
          <p:nvPr/>
        </p:nvSpPr>
        <p:spPr>
          <a:xfrm>
            <a:off x="1423295" y="922432"/>
            <a:ext cx="10641706" cy="2205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40"/>
              </a:lnSpc>
            </a:pPr>
            <a:r>
              <a:rPr lang="en-US" sz="7512" spc="52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When to create </a:t>
            </a:r>
          </a:p>
          <a:p>
            <a:pPr>
              <a:lnSpc>
                <a:spcPts val="8640"/>
              </a:lnSpc>
            </a:pPr>
            <a:r>
              <a:rPr lang="en-US" sz="7512" spc="52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B-Tree Index</a:t>
            </a:r>
          </a:p>
        </p:txBody>
      </p:sp>
      <p:sp>
        <p:nvSpPr>
          <p:cNvPr id="5" name="Freeform 5"/>
          <p:cNvSpPr/>
          <p:nvPr/>
        </p:nvSpPr>
        <p:spPr>
          <a:xfrm>
            <a:off x="1168400" y="3429000"/>
            <a:ext cx="10112003" cy="1232649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2" y="0"/>
                </a:lnTo>
                <a:lnTo>
                  <a:pt x="7584002" y="1225784"/>
                </a:lnTo>
                <a:lnTo>
                  <a:pt x="0" y="1225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Suitable for the columns having </a:t>
            </a:r>
            <a:r>
              <a:rPr lang="en-US" altLang="en-US" sz="2415" b="1" spc="96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latin typeface="Montserrat Light"/>
              </a:rPr>
              <a:t>high cardinality </a:t>
            </a:r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with less nulls (means distinct values are more in the column)</a:t>
            </a:r>
            <a:r>
              <a:rPr 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.</a:t>
            </a:r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ECB9D024-1EEE-1C78-B65B-A2BA49499D94}"/>
              </a:ext>
            </a:extLst>
          </p:cNvPr>
          <p:cNvSpPr/>
          <p:nvPr/>
        </p:nvSpPr>
        <p:spPr>
          <a:xfrm>
            <a:off x="1194637" y="4962485"/>
            <a:ext cx="10112003" cy="1232649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2" y="0"/>
                </a:lnTo>
                <a:lnTo>
                  <a:pt x="7584002" y="1225784"/>
                </a:lnTo>
                <a:lnTo>
                  <a:pt x="0" y="1225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Implicit Index Creation </a:t>
            </a:r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  <a:sym typeface="Wingdings" panose="05000000000000000000" pitchFamily="2" charset="2"/>
              </a:rPr>
              <a:t> Whenever a primary key or unique key is created on a column then implicitly a </a:t>
            </a:r>
            <a:r>
              <a:rPr lang="en-US" altLang="en-US" sz="2415" b="1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  <a:sym typeface="Wingdings" panose="05000000000000000000" pitchFamily="2" charset="2"/>
              </a:rPr>
              <a:t>B-Tree</a:t>
            </a:r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  <a:sym typeface="Wingdings" panose="05000000000000000000" pitchFamily="2" charset="2"/>
              </a:rPr>
              <a:t> and Unique type of index gets created for that column!!</a:t>
            </a:r>
            <a:endParaRPr lang="en-US" sz="2415" spc="96" dirty="0">
              <a:solidFill>
                <a:schemeClr val="tx2">
                  <a:lumMod val="60000"/>
                  <a:lumOff val="40000"/>
                </a:schemeClr>
              </a:solidFill>
              <a:latin typeface="Montserrat Light"/>
            </a:endParaRPr>
          </a:p>
        </p:txBody>
      </p:sp>
    </p:spTree>
    <p:extLst>
      <p:ext uri="{BB962C8B-B14F-4D97-AF65-F5344CB8AC3E}">
        <p14:creationId xmlns:p14="http://schemas.microsoft.com/office/powerpoint/2010/main" val="1053381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423294" y="717807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0" y="0"/>
                </a:lnTo>
                <a:lnTo>
                  <a:pt x="761309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Box 4"/>
          <p:cNvSpPr txBox="1"/>
          <p:nvPr/>
        </p:nvSpPr>
        <p:spPr>
          <a:xfrm>
            <a:off x="1423294" y="914400"/>
            <a:ext cx="10641706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40"/>
              </a:lnSpc>
            </a:pPr>
            <a:r>
              <a:rPr lang="en-US" sz="7512" spc="52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B-Tree Index</a:t>
            </a:r>
          </a:p>
        </p:txBody>
      </p:sp>
      <p:sp>
        <p:nvSpPr>
          <p:cNvPr id="5" name="Freeform 5"/>
          <p:cNvSpPr/>
          <p:nvPr/>
        </p:nvSpPr>
        <p:spPr>
          <a:xfrm>
            <a:off x="1320799" y="3581400"/>
            <a:ext cx="10112003" cy="1232649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2" y="0"/>
                </a:lnTo>
                <a:lnTo>
                  <a:pt x="7584002" y="1225784"/>
                </a:lnTo>
                <a:lnTo>
                  <a:pt x="0" y="1225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pPr algn="ctr"/>
            <a:endParaRPr lang="en-US" sz="2415" b="1" spc="96" dirty="0">
              <a:solidFill>
                <a:schemeClr val="tx2">
                  <a:lumMod val="60000"/>
                  <a:lumOff val="40000"/>
                </a:schemeClr>
              </a:solidFill>
              <a:latin typeface="Montserrat Light"/>
            </a:endParaRPr>
          </a:p>
          <a:p>
            <a:pPr algn="ctr"/>
            <a:r>
              <a:rPr lang="en-US" sz="2415" b="1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Let’s explore the B-Tree Index in detail.</a:t>
            </a:r>
          </a:p>
        </p:txBody>
      </p:sp>
    </p:spTree>
    <p:extLst>
      <p:ext uri="{BB962C8B-B14F-4D97-AF65-F5344CB8AC3E}">
        <p14:creationId xmlns:p14="http://schemas.microsoft.com/office/powerpoint/2010/main" val="187884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267</Words>
  <Application>Microsoft Office PowerPoint</Application>
  <PresentationFormat>Custom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Times New Roman</vt:lpstr>
      <vt:lpstr>Montserrat Classic Bold</vt:lpstr>
      <vt:lpstr>Montserrat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White PPT</dc:title>
  <dc:creator>USER</dc:creator>
  <cp:lastModifiedBy>Mandar Mulay</cp:lastModifiedBy>
  <cp:revision>100</cp:revision>
  <dcterms:created xsi:type="dcterms:W3CDTF">2006-08-16T00:00:00Z</dcterms:created>
  <dcterms:modified xsi:type="dcterms:W3CDTF">2024-06-01T03:41:37Z</dcterms:modified>
  <dc:identifier>DAFomaKSJEc</dc:identifier>
</cp:coreProperties>
</file>